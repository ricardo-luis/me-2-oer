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57" r:id="rId4"/>
    <p:sldId id="258" r:id="rId5"/>
    <p:sldId id="266" r:id="rId6"/>
    <p:sldId id="259" r:id="rId7"/>
    <p:sldId id="260" r:id="rId8"/>
    <p:sldId id="267" r:id="rId9"/>
    <p:sldId id="261" r:id="rId10"/>
    <p:sldId id="262" r:id="rId11"/>
    <p:sldId id="268" r:id="rId12"/>
    <p:sldId id="263" r:id="rId13"/>
    <p:sldId id="269" r:id="rId14"/>
    <p:sldId id="264" r:id="rId1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097924A-DC06-44D6-83A4-179E5A8BC1A7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BF5C31E-92F1-4191-8C75-19C05B705A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07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2B17A-A87F-28E7-7734-A7A24EA80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F34583-D04F-1393-6C88-F2DBA109F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56B55A0-63BE-14E3-D0DD-8403CDEE2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55EF9-DC19-41CF-A6CD-51F4B99F7D5D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E705118-AD26-4129-CB6A-5CED2B000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4105E4C-69B4-E011-ED9A-F115925EC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1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9985B0-9A96-E197-5563-BC324A2F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6EE5C1C-9283-07B6-51F1-8211ABB9F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863691B-3282-7159-21DE-EC3FAB71F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E64CF-7222-4C29-875D-93E6DC6DB154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8085682-1340-C1CC-924B-D312DF814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64D0CC5-F675-100A-711D-FBD5BA86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871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A8080-E62A-C136-2479-FB99795B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4187D43-A623-9F5C-E2FD-F16CE92A4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2BE1F5F-9758-B6F3-4149-905E0314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1A615-76CD-44C8-AA91-56666C08A99E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B6F13FB-D2F8-3161-38E9-5BFE351A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F10F729-01A8-68DA-56A4-47E384C5F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3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6A373-1D35-A11A-977D-C708209E0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BBEADE8-693B-57B7-7E80-6B8762CA9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FC01B711-A561-2FDD-87C5-2504C38DB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D0514F9-29FC-1FD1-D98F-2D05E781D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7BD2A-6988-4CEF-AF85-7BEB9A9E5605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C6C1413-8D68-23D2-3E76-74AC3D03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DC5C161-7AEA-5CEC-4087-4B59C77F1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35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DA236-56A6-B9EB-0D18-DF1902516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0455BF4-715C-5653-AA31-2C6A33803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D9794DF-774E-05E1-FFA8-03ADCF067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6C7927FB-399D-3E89-48F9-7FF3DCC60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D5D40CE2-361F-2A54-B108-BBF52F99F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6B6D53AA-6E51-6764-8DBB-74820A542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943A0-4E6E-464E-9D86-097BCF69C614}" type="datetime1">
              <a:rPr lang="en-US" smtClean="0"/>
              <a:t>9/19/2025</a:t>
            </a:fld>
            <a:endParaRPr lang="en-US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AA6BE4A7-69ED-859F-311A-65F4B9E7C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6FC74506-D2A4-3094-52CF-7229E307B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23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8F33A-5813-6E67-A64C-9D6626061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5AD0CBA-BFA5-05AE-6380-90B25564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EF11-06FD-4AA5-BDFD-DFD94306D947}" type="datetime1">
              <a:rPr lang="en-US" smtClean="0"/>
              <a:t>9/19/2025</a:t>
            </a:fld>
            <a:endParaRPr lang="en-US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8DB8BC4B-245D-815F-F6B0-FBCBCA61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55BFF853-DED2-4880-8124-040F467EB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81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3FC3C8F3-CB84-AF7F-781D-1CCA1D3D9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7A1D6-DFF0-4C03-9AFA-E8201A6B5911}" type="datetime1">
              <a:rPr lang="en-US" smtClean="0"/>
              <a:t>9/19/2025</a:t>
            </a:fld>
            <a:endParaRPr lang="en-US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889F5BD7-D32F-6960-FA71-8F75687AC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4D9EFF6-1F17-F9AF-214A-5DC3DF1FF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66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BE593-94D0-2741-1C70-551CE8171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220A7FD-36AE-B091-087C-5B2AA45B4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B3A478A-210C-A570-F95A-83CDA8368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39AB366-51BF-BEBA-34EE-2301147DA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C4B8D-42F7-4D61-B360-1BBE1282C69A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A57B555-179B-EE26-9104-F74FD6CC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89338E6-38AD-F600-D8B2-3C05F9D13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22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A1708-F7CF-3941-CB9E-CDF272BF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D84D3B37-FB30-9E10-1EA5-BAD12363DB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0F0D1DC-C4FA-8511-5840-86D5C4BD8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9453921-133D-3BE6-34FC-D31ECCB07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DC164-504B-4C43-A3CF-11DCCCEBF957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6ECCA5A-D26F-9D86-A33D-84D01DC86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F7C3F53-1547-83C3-156D-0B3251FE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65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D723E5-5ED9-1ABE-C600-6B38C01F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90E4133-C38F-5DB0-EC9B-8FB08DE2C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262C3AD-9FC8-3BA2-0E7B-F04043960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9FF6-F192-4B7F-87B4-9CAA42517ACA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6D69303-9C6B-BE93-45AE-DD2460FDF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2CE6120-5C2A-60E4-C68F-66A7A5787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08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29028A-8E41-D8C8-3669-C1CD49B35B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9F9E3EA-F78B-B276-4F8D-F1CE9D812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0403AD0-3A48-8D24-C45E-F1140291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32824-866F-45B5-B52A-A6FA6736F1EB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73A3CC6-0FBD-C569-03E8-EA1AF2D08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21F6F8D-AC1D-FEAE-A18D-68FD97877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38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88502CF8-ACD5-4DA4-9C31-1250D48EB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5AF23C9-6364-0D33-B6C8-00F342F92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3D5A714-1109-C8E9-A1EA-BC7F3E300C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CF3FD3-C8FD-4266-8589-5DCF8AB7C7D0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A79D0BE-0FF6-6470-A7D8-62CE1F714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57BA836-704F-09B6-F1ED-FE9059119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30CA35-BAF5-4C3E-83E2-7A7EDABA406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79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emm.info/wiki/HomePag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C1812-B3EB-01EF-6427-D3A25AC8D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0735"/>
            <a:ext cx="9144000" cy="2387600"/>
          </a:xfrm>
        </p:spPr>
        <p:txBody>
          <a:bodyPr>
            <a:normAutofit/>
          </a:bodyPr>
          <a:lstStyle/>
          <a:p>
            <a:r>
              <a:rPr lang="en-GB" sz="4800" b="1" dirty="0" err="1"/>
              <a:t>Máquina</a:t>
            </a:r>
            <a:r>
              <a:rPr lang="en-GB" sz="4800" b="1" dirty="0"/>
              <a:t> de Corrente </a:t>
            </a:r>
            <a:r>
              <a:rPr lang="en-GB" sz="4800" b="1" dirty="0" err="1"/>
              <a:t>Contínua</a:t>
            </a:r>
            <a:endParaRPr lang="en-US" sz="48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8C0185-4B67-D1AB-E79E-1BF04146D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36224"/>
            <a:ext cx="9144000" cy="1655762"/>
          </a:xfrm>
        </p:spPr>
        <p:txBody>
          <a:bodyPr>
            <a:normAutofit/>
          </a:bodyPr>
          <a:lstStyle/>
          <a:p>
            <a:endParaRPr lang="en-GB" dirty="0"/>
          </a:p>
          <a:p>
            <a:r>
              <a:rPr lang="en-US" sz="3600" b="1" dirty="0" err="1"/>
              <a:t>Reação</a:t>
            </a:r>
            <a:r>
              <a:rPr lang="en-US" sz="3600" b="1" dirty="0"/>
              <a:t> </a:t>
            </a:r>
            <a:r>
              <a:rPr lang="en-US" sz="3600" b="1" dirty="0" err="1"/>
              <a:t>Magnética</a:t>
            </a:r>
            <a:r>
              <a:rPr lang="en-US" sz="3600" b="1" dirty="0"/>
              <a:t> do </a:t>
            </a:r>
            <a:r>
              <a:rPr lang="en-US" sz="3600" b="1" dirty="0" err="1"/>
              <a:t>Induzido</a:t>
            </a:r>
            <a:r>
              <a:rPr lang="en-US" sz="3600" b="1" dirty="0"/>
              <a:t> (RMI)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3D8DD3B-294C-6A79-A5DF-EC8657391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1</a:t>
            </a:fld>
            <a:endParaRPr lang="en-US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0DADEAF9-C807-FD45-1D1D-2C8DC87F25D8}"/>
              </a:ext>
            </a:extLst>
          </p:cNvPr>
          <p:cNvSpPr txBox="1">
            <a:spLocks/>
          </p:cNvSpPr>
          <p:nvPr/>
        </p:nvSpPr>
        <p:spPr>
          <a:xfrm>
            <a:off x="0" y="5783854"/>
            <a:ext cx="12191999" cy="1082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ISEL\LEE\ME-II		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setembro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de 2025				Ricardo Luís</a:t>
            </a:r>
          </a:p>
        </p:txBody>
      </p:sp>
    </p:spTree>
    <p:extLst>
      <p:ext uri="{BB962C8B-B14F-4D97-AF65-F5344CB8AC3E}">
        <p14:creationId xmlns:p14="http://schemas.microsoft.com/office/powerpoint/2010/main" val="2846482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BA10F5-3CFB-F165-689E-E3D3D7766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72" y="365126"/>
            <a:ext cx="11002928" cy="485480"/>
          </a:xfrm>
        </p:spPr>
        <p:txBody>
          <a:bodyPr>
            <a:normAutofit fontScale="90000"/>
          </a:bodyPr>
          <a:lstStyle/>
          <a:p>
            <a:r>
              <a:rPr lang="pt-PT" sz="3600" b="1" noProof="0" dirty="0"/>
              <a:t>Observações</a:t>
            </a:r>
            <a:endParaRPr lang="pt-PT" sz="3600" noProof="0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6424707-8A79-2D80-5D4E-2B4832B18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872" y="946293"/>
            <a:ext cx="11504427" cy="5668852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pt-PT" sz="2600" noProof="0" dirty="0"/>
              <a:t>Para suporte da aula sobre reação magnética do induzido (RMI):</a:t>
            </a:r>
            <a:endParaRPr lang="pt-PT" noProof="0" dirty="0"/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lang="pt-PT" sz="2600" noProof="0" dirty="0"/>
              <a:t>Foram utilizados os dados do Exercício 3 para o desenvolvimento do modelo CAD da máquina de corrente continua, de modo a expor o problema da RMI;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lang="pt-PT" sz="2600" noProof="0" dirty="0"/>
              <a:t>Foram utilizadas as soluções de cálculo das forças </a:t>
            </a:r>
            <a:r>
              <a:rPr lang="pt-PT" sz="2600" noProof="0" dirty="0" err="1"/>
              <a:t>magnetomotrizes</a:t>
            </a:r>
            <a:r>
              <a:rPr lang="pt-PT" sz="2600" noProof="0" dirty="0"/>
              <a:t>, (FMM), </a:t>
            </a:r>
            <a:r>
              <a:rPr lang="pt-PT" sz="2600" noProof="0" dirty="0">
                <a:latin typeface="French Script MT" panose="03020402040607040605" pitchFamily="66" charset="0"/>
              </a:rPr>
              <a:t>F</a:t>
            </a:r>
            <a:r>
              <a:rPr lang="pt-PT" sz="26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PT" sz="2600" noProof="0" dirty="0"/>
              <a:t>, </a:t>
            </a:r>
            <a:r>
              <a:rPr lang="pt-PT" sz="2600" noProof="0" dirty="0">
                <a:latin typeface="French Script MT" panose="03020402040607040605" pitchFamily="66" charset="0"/>
              </a:rPr>
              <a:t>F</a:t>
            </a:r>
            <a:r>
              <a:rPr lang="pt-PT" sz="26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pt-PT" sz="2600" noProof="0" dirty="0"/>
              <a:t> e </a:t>
            </a:r>
            <a:r>
              <a:rPr lang="pt-PT" sz="2600" noProof="0" dirty="0">
                <a:latin typeface="French Script MT" panose="03020402040607040605" pitchFamily="66" charset="0"/>
              </a:rPr>
              <a:t>F</a:t>
            </a:r>
            <a:r>
              <a:rPr lang="pt-PT" sz="26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pt-PT" sz="2600" noProof="0" dirty="0"/>
              <a:t> e espiras resultantes (</a:t>
            </a:r>
            <a:r>
              <a:rPr lang="pt-PT" sz="2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PT" sz="26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pt-PT" sz="2600" noProof="0" dirty="0"/>
              <a:t>, </a:t>
            </a:r>
            <a:r>
              <a:rPr lang="pt-PT" sz="2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PT" sz="26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pt-PT" sz="2600" noProof="0" dirty="0"/>
              <a:t>), presentes na resolução de Exercício 3, para representar os gráficos das FMM = f (comprimento na periferia do induzido);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2600" noProof="0" dirty="0"/>
              <a:t>Com base nas soluções anteriores, obtiveram-se os resultados de simulação CAE para visualização das linhas de fluxo magnético e de indução magnética nos núcleos ferromagnéticos, de modo a comprovar a mitigação da RMI</a:t>
            </a:r>
            <a:r>
              <a:rPr lang="pt-PT" sz="2600" noProof="0" dirty="0"/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lang="pt-PT" sz="2600" noProof="0" dirty="0"/>
              <a:t>Foi utilizado o programa </a:t>
            </a:r>
            <a:r>
              <a:rPr lang="pt-PT" sz="2600" noProof="0" dirty="0">
                <a:hlinkClick r:id="rId2"/>
              </a:rPr>
              <a:t>FEMM</a:t>
            </a:r>
            <a:r>
              <a:rPr lang="pt-PT" sz="2600" noProof="0" dirty="0"/>
              <a:t> para o CAD (</a:t>
            </a:r>
            <a:r>
              <a:rPr lang="pt-PT" sz="2600" i="1" noProof="0" dirty="0" err="1"/>
              <a:t>Computer-Aided</a:t>
            </a:r>
            <a:r>
              <a:rPr lang="pt-PT" sz="2600" i="1" noProof="0" dirty="0"/>
              <a:t> Design</a:t>
            </a:r>
            <a:r>
              <a:rPr lang="pt-PT" sz="2600" noProof="0" dirty="0"/>
              <a:t> - desenho assistido por computador) e CAE (</a:t>
            </a:r>
            <a:r>
              <a:rPr lang="pt-PT" sz="2600" i="1" noProof="0" dirty="0" err="1"/>
              <a:t>Computer-Aided</a:t>
            </a:r>
            <a:r>
              <a:rPr lang="pt-PT" sz="2600" i="1" noProof="0" dirty="0"/>
              <a:t> </a:t>
            </a:r>
            <a:r>
              <a:rPr lang="pt-PT" sz="2600" i="1" noProof="0" dirty="0" err="1"/>
              <a:t>Engineering</a:t>
            </a:r>
            <a:r>
              <a:rPr lang="pt-PT" sz="2600" noProof="0" dirty="0"/>
              <a:t> - engenharia assistida por computador) do Exercício 3, aplicando o método dos elementos finitos para o cálculo eletromagnético.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32B7726-4530-9E86-F4A4-BDFD406AB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pt-PT" noProof="0" smtClean="0"/>
              <a:t>2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946464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DF95C-FFAD-9431-09B8-56270B2E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42" y="146344"/>
            <a:ext cx="11692776" cy="875846"/>
          </a:xfrm>
        </p:spPr>
        <p:txBody>
          <a:bodyPr>
            <a:normAutofit/>
          </a:bodyPr>
          <a:lstStyle/>
          <a:p>
            <a:r>
              <a:rPr lang="en-GB" sz="3600" b="1" dirty="0"/>
              <a:t>  campo </a:t>
            </a:r>
            <a:r>
              <a:rPr lang="en-GB" sz="3600" b="1" dirty="0" err="1"/>
              <a:t>indutor</a:t>
            </a:r>
            <a:r>
              <a:rPr lang="en-GB" sz="3600" b="1" dirty="0"/>
              <a:t>     +     campo </a:t>
            </a:r>
            <a:r>
              <a:rPr lang="en-GB" sz="3600" b="1" dirty="0" err="1"/>
              <a:t>induzido</a:t>
            </a:r>
            <a:r>
              <a:rPr lang="en-GB" sz="3600" b="1" dirty="0"/>
              <a:t>    =   campo </a:t>
            </a:r>
            <a:r>
              <a:rPr lang="en-GB" sz="3600" b="1" dirty="0" err="1"/>
              <a:t>resultante</a:t>
            </a:r>
            <a:endParaRPr lang="en-US" sz="3600" b="1" dirty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2EEC6E05-1191-7EF1-488A-932FAFD96162}"/>
              </a:ext>
            </a:extLst>
          </p:cNvPr>
          <p:cNvGrpSpPr/>
          <p:nvPr/>
        </p:nvGrpSpPr>
        <p:grpSpPr>
          <a:xfrm>
            <a:off x="182491" y="1108182"/>
            <a:ext cx="11855877" cy="3530784"/>
            <a:chOff x="100941" y="2011949"/>
            <a:chExt cx="11855877" cy="3530784"/>
          </a:xfrm>
        </p:grpSpPr>
        <p:pic>
          <p:nvPicPr>
            <p:cNvPr id="5" name="Imagem 4" descr="Uma imagem com texto, círculo, diagrama, captura de ecrã&#10;&#10;Os conteúdos gerados por IA podem estar incorretos.">
              <a:extLst>
                <a:ext uri="{FF2B5EF4-FFF2-40B4-BE49-F238E27FC236}">
                  <a16:creationId xmlns:a16="http://schemas.microsoft.com/office/drawing/2014/main" id="{E499C828-0194-6246-B261-F560835C3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536"/>
            <a:stretch>
              <a:fillRect/>
            </a:stretch>
          </p:blipFill>
          <p:spPr>
            <a:xfrm>
              <a:off x="100941" y="2011952"/>
              <a:ext cx="3600200" cy="3530781"/>
            </a:xfrm>
            <a:prstGeom prst="rect">
              <a:avLst/>
            </a:prstGeom>
          </p:spPr>
        </p:pic>
        <p:pic>
          <p:nvPicPr>
            <p:cNvPr id="7" name="Imagem 6" descr="Uma imagem com texto, círculo, diagrama, captura de ecrã&#10;&#10;Os conteúdos gerados por IA podem estar incorretos.">
              <a:extLst>
                <a:ext uri="{FF2B5EF4-FFF2-40B4-BE49-F238E27FC236}">
                  <a16:creationId xmlns:a16="http://schemas.microsoft.com/office/drawing/2014/main" id="{7D604344-85C5-CAE2-8924-9D22229EA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536"/>
            <a:stretch>
              <a:fillRect/>
            </a:stretch>
          </p:blipFill>
          <p:spPr>
            <a:xfrm>
              <a:off x="4241246" y="2011951"/>
              <a:ext cx="3600200" cy="3530781"/>
            </a:xfrm>
            <a:prstGeom prst="rect">
              <a:avLst/>
            </a:prstGeom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EAA1CE24-695C-A2FE-A550-3C5778B36C9C}"/>
                </a:ext>
              </a:extLst>
            </p:cNvPr>
            <p:cNvSpPr txBox="1"/>
            <p:nvPr/>
          </p:nvSpPr>
          <p:spPr>
            <a:xfrm>
              <a:off x="3568044" y="3115621"/>
              <a:ext cx="93617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0" dirty="0"/>
                <a:t>+</a:t>
              </a:r>
              <a:endParaRPr lang="en-US" sz="8000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D3167962-B5AD-FE44-2B50-A6410E682D16}"/>
                </a:ext>
              </a:extLst>
            </p:cNvPr>
            <p:cNvSpPr txBox="1"/>
            <p:nvPr/>
          </p:nvSpPr>
          <p:spPr>
            <a:xfrm>
              <a:off x="7687786" y="3115621"/>
              <a:ext cx="93617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0" dirty="0"/>
                <a:t>=</a:t>
              </a:r>
              <a:endParaRPr lang="en-US" sz="8000" dirty="0"/>
            </a:p>
          </p:txBody>
        </p:sp>
        <p:pic>
          <p:nvPicPr>
            <p:cNvPr id="11" name="Imagem 10" descr="Uma imagem com círculo, texto, Saturação de cores, captura de ecrã&#10;&#10;Os conteúdos gerados por IA podem estar incorretos.">
              <a:extLst>
                <a:ext uri="{FF2B5EF4-FFF2-40B4-BE49-F238E27FC236}">
                  <a16:creationId xmlns:a16="http://schemas.microsoft.com/office/drawing/2014/main" id="{462D5C36-1DF2-1AE7-FEAF-22D62F95E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536"/>
            <a:stretch>
              <a:fillRect/>
            </a:stretch>
          </p:blipFill>
          <p:spPr>
            <a:xfrm>
              <a:off x="8356618" y="2011949"/>
              <a:ext cx="3600200" cy="3530781"/>
            </a:xfrm>
            <a:prstGeom prst="rect">
              <a:avLst/>
            </a:prstGeom>
          </p:spPr>
        </p:pic>
      </p:grpSp>
      <p:pic>
        <p:nvPicPr>
          <p:cNvPr id="14" name="Imagem 13" descr="Uma imagem com círculo, texto, Saturação de cores, captura de ecrã&#10;&#10;Os conteúdos gerados por IA podem estar incorretos.">
            <a:extLst>
              <a:ext uri="{FF2B5EF4-FFF2-40B4-BE49-F238E27FC236}">
                <a16:creationId xmlns:a16="http://schemas.microsoft.com/office/drawing/2014/main" id="{BB5BA72B-9A3C-8FF8-6BCB-FC36B33CB4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47" b="34986"/>
          <a:stretch>
            <a:fillRect/>
          </a:stretch>
        </p:blipFill>
        <p:spPr>
          <a:xfrm>
            <a:off x="7500959" y="4441373"/>
            <a:ext cx="1472926" cy="2313827"/>
          </a:xfrm>
          <a:prstGeom prst="rect">
            <a:avLst/>
          </a:prstGeom>
        </p:spPr>
      </p:pic>
      <p:sp>
        <p:nvSpPr>
          <p:cNvPr id="15" name="Marcador de Posição do Número do Diapositivo 14">
            <a:extLst>
              <a:ext uri="{FF2B5EF4-FFF2-40B4-BE49-F238E27FC236}">
                <a16:creationId xmlns:a16="http://schemas.microsoft.com/office/drawing/2014/main" id="{0372E39B-923A-463D-74FA-BDB46C26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95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2211D-438D-6D4B-1BDE-3A68A83F8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9ABEC5-E5B4-D2B6-2066-BADBDFF26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42" y="146344"/>
            <a:ext cx="11692776" cy="875846"/>
          </a:xfrm>
        </p:spPr>
        <p:txBody>
          <a:bodyPr>
            <a:normAutofit/>
          </a:bodyPr>
          <a:lstStyle/>
          <a:p>
            <a:r>
              <a:rPr lang="en-GB" sz="3600" b="1" dirty="0"/>
              <a:t>  campo </a:t>
            </a:r>
            <a:r>
              <a:rPr lang="en-GB" sz="3600" b="1" dirty="0" err="1"/>
              <a:t>indutor</a:t>
            </a:r>
            <a:r>
              <a:rPr lang="en-GB" sz="3600" b="1" dirty="0"/>
              <a:t>     +     campo </a:t>
            </a:r>
            <a:r>
              <a:rPr lang="en-GB" sz="3600" b="1" dirty="0" err="1"/>
              <a:t>induzido</a:t>
            </a:r>
            <a:r>
              <a:rPr lang="en-GB" sz="3600" b="1" dirty="0"/>
              <a:t>    =   campo </a:t>
            </a:r>
            <a:r>
              <a:rPr lang="en-GB" sz="3600" b="1" dirty="0" err="1"/>
              <a:t>resultante</a:t>
            </a:r>
            <a:endParaRPr lang="en-US" sz="3600" b="1" dirty="0"/>
          </a:p>
        </p:txBody>
      </p:sp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3522A5A0-D5F0-E1CF-51D5-8EEE67A7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4</a:t>
            </a:fld>
            <a:endParaRPr lang="en-US"/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BE4E5A68-BFA7-A717-9606-2B88EC69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5008" y="914921"/>
            <a:ext cx="8431615" cy="579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100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91FB9-2155-B0F8-DEED-757FC2C7A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CDEA9-3EF2-15B1-E984-E2CC49C7A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42" y="146344"/>
            <a:ext cx="11692776" cy="875846"/>
          </a:xfrm>
        </p:spPr>
        <p:txBody>
          <a:bodyPr>
            <a:normAutofit/>
          </a:bodyPr>
          <a:lstStyle/>
          <a:p>
            <a:r>
              <a:rPr lang="en-GB" sz="3600" b="1" dirty="0"/>
              <a:t>FMM do campo </a:t>
            </a:r>
            <a:r>
              <a:rPr lang="en-GB" sz="3600" b="1" dirty="0" err="1"/>
              <a:t>indutor</a:t>
            </a:r>
            <a:r>
              <a:rPr lang="en-GB" sz="3600" b="1" dirty="0"/>
              <a:t>  e campo </a:t>
            </a:r>
            <a:r>
              <a:rPr lang="en-GB" sz="3600" b="1" dirty="0" err="1"/>
              <a:t>induzido</a:t>
            </a:r>
            <a:endParaRPr lang="en-US" sz="3600" b="1" dirty="0"/>
          </a:p>
        </p:txBody>
      </p:sp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75DEFD9F-04AB-F9BD-8E1E-8856A9C5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5</a:t>
            </a:fld>
            <a:endParaRPr lang="en-US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61B7AEB9-6B8F-92F2-02FF-1FB645864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1125" y="1022190"/>
            <a:ext cx="8834376" cy="552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996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80FB87B-93B5-0D28-27B2-A1F18D179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6</a:t>
            </a:fld>
            <a:endParaRPr lang="en-U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BABFCE9-1E12-8BE0-5EA5-0338DF9704D6}"/>
              </a:ext>
            </a:extLst>
          </p:cNvPr>
          <p:cNvSpPr txBox="1">
            <a:spLocks/>
          </p:cNvSpPr>
          <p:nvPr/>
        </p:nvSpPr>
        <p:spPr>
          <a:xfrm>
            <a:off x="264042" y="146344"/>
            <a:ext cx="11692776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/>
              <a:t>1 - </a:t>
            </a:r>
            <a:r>
              <a:rPr lang="en-GB" sz="3600" dirty="0" err="1"/>
              <a:t>Máquina</a:t>
            </a:r>
            <a:r>
              <a:rPr lang="en-GB" sz="3600" dirty="0"/>
              <a:t> CC com </a:t>
            </a:r>
            <a:r>
              <a:rPr lang="en-GB" sz="3600" b="1" dirty="0"/>
              <a:t>polos auxiliaries (1/3)</a:t>
            </a:r>
            <a:endParaRPr lang="en-US" sz="3600" b="1" dirty="0"/>
          </a:p>
        </p:txBody>
      </p:sp>
      <p:pic>
        <p:nvPicPr>
          <p:cNvPr id="7" name="Imagem 6" descr="Uma imagem com círculo, texto, captura de ecrã, Saturação de cores&#10;&#10;Os conteúdos gerados por IA podem estar incorretos.">
            <a:extLst>
              <a:ext uri="{FF2B5EF4-FFF2-40B4-BE49-F238E27FC236}">
                <a16:creationId xmlns:a16="http://schemas.microsoft.com/office/drawing/2014/main" id="{54D38023-C27C-95C7-6384-539574AAD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949"/>
          <a:stretch>
            <a:fillRect/>
          </a:stretch>
        </p:blipFill>
        <p:spPr>
          <a:xfrm>
            <a:off x="2484915" y="1022190"/>
            <a:ext cx="5603172" cy="5545434"/>
          </a:xfrm>
          <a:prstGeom prst="rect">
            <a:avLst/>
          </a:prstGeom>
        </p:spPr>
      </p:pic>
      <p:pic>
        <p:nvPicPr>
          <p:cNvPr id="9" name="Imagem 8" descr="Uma imagem com círculo, texto, captura de ecrã, Saturação de cores&#10;&#10;Os conteúdos gerados por IA podem estar incorretos.">
            <a:extLst>
              <a:ext uri="{FF2B5EF4-FFF2-40B4-BE49-F238E27FC236}">
                <a16:creationId xmlns:a16="http://schemas.microsoft.com/office/drawing/2014/main" id="{E317FAB8-E565-E7E3-EC1C-07E40C96F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55" b="33351"/>
          <a:stretch>
            <a:fillRect/>
          </a:stretch>
        </p:blipFill>
        <p:spPr>
          <a:xfrm>
            <a:off x="8871857" y="1166364"/>
            <a:ext cx="3186543" cy="518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88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E2951-B9F4-2A61-A461-D0C2484FD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665A445-0902-F808-B7EB-487BCC67F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7</a:t>
            </a:fld>
            <a:endParaRPr lang="en-U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89433721-A2B7-FD08-1C70-B8B64DD2D5E3}"/>
              </a:ext>
            </a:extLst>
          </p:cNvPr>
          <p:cNvSpPr txBox="1">
            <a:spLocks/>
          </p:cNvSpPr>
          <p:nvPr/>
        </p:nvSpPr>
        <p:spPr>
          <a:xfrm>
            <a:off x="264042" y="146344"/>
            <a:ext cx="11692776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/>
              <a:t>1 - </a:t>
            </a:r>
            <a:r>
              <a:rPr lang="en-GB" sz="3600" dirty="0" err="1"/>
              <a:t>Máquina</a:t>
            </a:r>
            <a:r>
              <a:rPr lang="en-GB" sz="3600" dirty="0"/>
              <a:t> CC com </a:t>
            </a:r>
            <a:r>
              <a:rPr lang="en-GB" sz="3600" b="1" dirty="0"/>
              <a:t>polos auxiliaries (2/3)</a:t>
            </a:r>
            <a:endParaRPr lang="en-US" sz="3600" b="1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BC08F9F6-8E60-B4B8-06D2-D68DB3D6C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2353" y="809625"/>
            <a:ext cx="8584772" cy="590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745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CBC23-2876-28D1-C0F7-960A6A600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F01A77F-B4A5-2C4E-61F5-3D410995F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8</a:t>
            </a:fld>
            <a:endParaRPr lang="en-U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772F777-631B-C28A-2337-01467B768933}"/>
              </a:ext>
            </a:extLst>
          </p:cNvPr>
          <p:cNvSpPr txBox="1">
            <a:spLocks/>
          </p:cNvSpPr>
          <p:nvPr/>
        </p:nvSpPr>
        <p:spPr>
          <a:xfrm>
            <a:off x="264042" y="146344"/>
            <a:ext cx="11692776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/>
              <a:t>1 - </a:t>
            </a:r>
            <a:r>
              <a:rPr lang="en-GB" sz="3600" dirty="0" err="1"/>
              <a:t>Máquina</a:t>
            </a:r>
            <a:r>
              <a:rPr lang="en-GB" sz="3600" dirty="0"/>
              <a:t> CC com </a:t>
            </a:r>
            <a:r>
              <a:rPr lang="en-GB" sz="3600" b="1" dirty="0"/>
              <a:t>polos auxiliaries (3/3)</a:t>
            </a:r>
            <a:endParaRPr lang="en-US" sz="3600" b="1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E62D2E4-8DB3-499F-E900-C74325E1B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1600" y="1041696"/>
            <a:ext cx="9087646" cy="567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041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11321-FEE5-C2C4-EE27-A36E7335B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981B8E2-9A98-45BF-AEB1-EBF7D16D7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9</a:t>
            </a:fld>
            <a:endParaRPr lang="en-U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D57C162-7D06-D2B7-8AF0-6B26F1DC34CE}"/>
              </a:ext>
            </a:extLst>
          </p:cNvPr>
          <p:cNvSpPr txBox="1">
            <a:spLocks/>
          </p:cNvSpPr>
          <p:nvPr/>
        </p:nvSpPr>
        <p:spPr>
          <a:xfrm>
            <a:off x="264042" y="146344"/>
            <a:ext cx="11692776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/>
              <a:t>2 - </a:t>
            </a:r>
            <a:r>
              <a:rPr lang="en-GB" sz="3600" dirty="0" err="1"/>
              <a:t>Máquina</a:t>
            </a:r>
            <a:r>
              <a:rPr lang="en-GB" sz="3600" dirty="0"/>
              <a:t> CC com </a:t>
            </a:r>
            <a:r>
              <a:rPr lang="en-GB" sz="3600" b="1" dirty="0"/>
              <a:t>RMI </a:t>
            </a:r>
            <a:r>
              <a:rPr lang="en-GB" sz="3600" b="1" dirty="0" err="1"/>
              <a:t>compensada</a:t>
            </a:r>
            <a:r>
              <a:rPr lang="en-GB" sz="3600" b="1" dirty="0"/>
              <a:t> (1/6)</a:t>
            </a:r>
            <a:endParaRPr lang="en-US" sz="3600" b="1" dirty="0"/>
          </a:p>
        </p:txBody>
      </p:sp>
      <p:pic>
        <p:nvPicPr>
          <p:cNvPr id="6" name="Imagem 5" descr="Uma imagem com círculo, texto, captura de ecrã, Saturação de cores&#10;&#10;Os conteúdos gerados por IA podem estar incorretos.">
            <a:extLst>
              <a:ext uri="{FF2B5EF4-FFF2-40B4-BE49-F238E27FC236}">
                <a16:creationId xmlns:a16="http://schemas.microsoft.com/office/drawing/2014/main" id="{C74D4539-3387-516E-01DB-5B60DB1CE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811"/>
          <a:stretch>
            <a:fillRect/>
          </a:stretch>
        </p:blipFill>
        <p:spPr>
          <a:xfrm>
            <a:off x="1951328" y="882352"/>
            <a:ext cx="5907971" cy="5829304"/>
          </a:xfrm>
          <a:prstGeom prst="rect">
            <a:avLst/>
          </a:prstGeom>
        </p:spPr>
      </p:pic>
      <p:pic>
        <p:nvPicPr>
          <p:cNvPr id="8" name="Imagem 7" descr="Uma imagem com círculo, texto, captura de ecrã, Saturação de cores&#10;&#10;Os conteúdos gerados por IA podem estar incorretos.">
            <a:extLst>
              <a:ext uri="{FF2B5EF4-FFF2-40B4-BE49-F238E27FC236}">
                <a16:creationId xmlns:a16="http://schemas.microsoft.com/office/drawing/2014/main" id="{9EDFAF38-446D-BBFD-5B03-74361439C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55" b="34276"/>
          <a:stretch>
            <a:fillRect/>
          </a:stretch>
        </p:blipFill>
        <p:spPr>
          <a:xfrm>
            <a:off x="8792047" y="1147774"/>
            <a:ext cx="3164771" cy="508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806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B6A9C-57C5-F640-CC76-CBB57873A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áfico 16">
            <a:extLst>
              <a:ext uri="{FF2B5EF4-FFF2-40B4-BE49-F238E27FC236}">
                <a16:creationId xmlns:a16="http://schemas.microsoft.com/office/drawing/2014/main" id="{C1758CF0-AD4E-A268-5678-2F239E6F6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7692" y="1539261"/>
            <a:ext cx="7483551" cy="5144941"/>
          </a:xfrm>
          <a:prstGeom prst="rect">
            <a:avLst/>
          </a:prstGeom>
        </p:spPr>
      </p:pic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33905ED-F9B4-5F97-FAA5-0E655ED3F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10</a:t>
            </a:fld>
            <a:endParaRPr lang="en-U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8B244693-433A-E533-44F0-9342B35BBDA7}"/>
              </a:ext>
            </a:extLst>
          </p:cNvPr>
          <p:cNvSpPr txBox="1">
            <a:spLocks/>
          </p:cNvSpPr>
          <p:nvPr/>
        </p:nvSpPr>
        <p:spPr>
          <a:xfrm>
            <a:off x="264042" y="146344"/>
            <a:ext cx="11692776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/>
              <a:t>2 - </a:t>
            </a:r>
            <a:r>
              <a:rPr lang="en-GB" sz="3600" dirty="0" err="1"/>
              <a:t>Máquina</a:t>
            </a:r>
            <a:r>
              <a:rPr lang="en-GB" sz="3600" dirty="0"/>
              <a:t> CC com </a:t>
            </a:r>
            <a:r>
              <a:rPr lang="en-GB" sz="3600" b="1" dirty="0"/>
              <a:t>RMI </a:t>
            </a:r>
            <a:r>
              <a:rPr lang="en-GB" sz="3600" b="1" dirty="0" err="1"/>
              <a:t>compensada</a:t>
            </a:r>
            <a:r>
              <a:rPr lang="en-GB" sz="3600" b="1" dirty="0"/>
              <a:t> (2/6)</a:t>
            </a:r>
            <a:endParaRPr lang="en-US" sz="3600" b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CE6740D-0387-EC32-4F93-0D436339A082}"/>
              </a:ext>
            </a:extLst>
          </p:cNvPr>
          <p:cNvSpPr txBox="1">
            <a:spLocks/>
          </p:cNvSpPr>
          <p:nvPr/>
        </p:nvSpPr>
        <p:spPr>
          <a:xfrm>
            <a:off x="819213" y="897459"/>
            <a:ext cx="11238108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err="1"/>
              <a:t>Dimensionar</a:t>
            </a:r>
            <a:r>
              <a:rPr lang="en-GB" sz="2800" b="1" dirty="0"/>
              <a:t> </a:t>
            </a:r>
            <a:r>
              <a:rPr lang="en-GB" sz="2800" b="1" dirty="0" err="1"/>
              <a:t>primeiro</a:t>
            </a:r>
            <a:r>
              <a:rPr lang="en-GB" sz="2800" b="1" dirty="0"/>
              <a:t> </a:t>
            </a:r>
            <a:r>
              <a:rPr lang="en-GB" sz="2800" b="1" dirty="0" err="1"/>
              <a:t>os</a:t>
            </a:r>
            <a:r>
              <a:rPr lang="en-GB" sz="2800" b="1" dirty="0"/>
              <a:t> </a:t>
            </a:r>
            <a:r>
              <a:rPr lang="en-GB" sz="2800" b="1" dirty="0" err="1"/>
              <a:t>enrolamentos</a:t>
            </a:r>
            <a:r>
              <a:rPr lang="en-GB" sz="2800" b="1" dirty="0"/>
              <a:t> de </a:t>
            </a:r>
            <a:r>
              <a:rPr lang="en-GB" sz="2800" b="1" dirty="0" err="1"/>
              <a:t>compensação</a:t>
            </a:r>
            <a:endParaRPr lang="en-US" sz="2800" b="1" dirty="0"/>
          </a:p>
        </p:txBody>
      </p:sp>
      <p:pic>
        <p:nvPicPr>
          <p:cNvPr id="11" name="Imagem 10" descr="Uma imagem com texto, diagrama, círculo&#10;&#10;Os conteúdos gerados por IA podem estar incorretos.">
            <a:extLst>
              <a:ext uri="{FF2B5EF4-FFF2-40B4-BE49-F238E27FC236}">
                <a16:creationId xmlns:a16="http://schemas.microsoft.com/office/drawing/2014/main" id="{91F1A934-8FEC-7BA6-CB41-82774A8E5A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47"/>
          <a:stretch>
            <a:fillRect/>
          </a:stretch>
        </p:blipFill>
        <p:spPr>
          <a:xfrm>
            <a:off x="40756" y="1839068"/>
            <a:ext cx="4478079" cy="445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84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689F9-7748-FDEF-5209-7F069F922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5FA1BA0-FA02-9CE5-C7FD-E563C5FBC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11</a:t>
            </a:fld>
            <a:endParaRPr lang="en-U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3C1CE23-4416-7DAD-5D15-4FA36AFCB5C5}"/>
              </a:ext>
            </a:extLst>
          </p:cNvPr>
          <p:cNvSpPr txBox="1">
            <a:spLocks/>
          </p:cNvSpPr>
          <p:nvPr/>
        </p:nvSpPr>
        <p:spPr>
          <a:xfrm>
            <a:off x="264042" y="146344"/>
            <a:ext cx="11692776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/>
              <a:t>2 - </a:t>
            </a:r>
            <a:r>
              <a:rPr lang="en-GB" sz="3600" dirty="0" err="1"/>
              <a:t>Máquina</a:t>
            </a:r>
            <a:r>
              <a:rPr lang="en-GB" sz="3600" dirty="0"/>
              <a:t> CC com </a:t>
            </a:r>
            <a:r>
              <a:rPr lang="en-GB" sz="3600" b="1" dirty="0"/>
              <a:t>RMI </a:t>
            </a:r>
            <a:r>
              <a:rPr lang="en-GB" sz="3600" b="1" dirty="0" err="1"/>
              <a:t>compensada</a:t>
            </a:r>
            <a:r>
              <a:rPr lang="en-GB" sz="3600" b="1" dirty="0"/>
              <a:t> (3/6)</a:t>
            </a:r>
            <a:endParaRPr lang="en-US" sz="3600" b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EDA30D-4617-453C-476B-21441A4EED01}"/>
              </a:ext>
            </a:extLst>
          </p:cNvPr>
          <p:cNvSpPr txBox="1">
            <a:spLocks/>
          </p:cNvSpPr>
          <p:nvPr/>
        </p:nvSpPr>
        <p:spPr>
          <a:xfrm>
            <a:off x="819213" y="897459"/>
            <a:ext cx="11238108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/>
              <a:t>FMM:</a:t>
            </a:r>
            <a:endParaRPr lang="en-US" sz="2800" b="1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B7C54916-9C59-BB63-A3DB-564888D90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7655" y="1192310"/>
            <a:ext cx="8678221" cy="542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65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5B0DD-CD91-3D2E-74FB-58BD6DA9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1CE0318-BCA3-18D2-9A1C-BC82D12E7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12</a:t>
            </a:fld>
            <a:endParaRPr lang="en-U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1D2B2C5-7947-DAAD-AECC-B98147474B07}"/>
              </a:ext>
            </a:extLst>
          </p:cNvPr>
          <p:cNvSpPr txBox="1">
            <a:spLocks/>
          </p:cNvSpPr>
          <p:nvPr/>
        </p:nvSpPr>
        <p:spPr>
          <a:xfrm>
            <a:off x="264042" y="146344"/>
            <a:ext cx="11692776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/>
              <a:t>2 - </a:t>
            </a:r>
            <a:r>
              <a:rPr lang="en-GB" sz="3600" dirty="0" err="1"/>
              <a:t>Máquina</a:t>
            </a:r>
            <a:r>
              <a:rPr lang="en-GB" sz="3600" dirty="0"/>
              <a:t> CC com </a:t>
            </a:r>
            <a:r>
              <a:rPr lang="en-GB" sz="3600" b="1" dirty="0"/>
              <a:t>RMI </a:t>
            </a:r>
            <a:r>
              <a:rPr lang="en-GB" sz="3600" b="1" dirty="0" err="1"/>
              <a:t>compensada</a:t>
            </a:r>
            <a:r>
              <a:rPr lang="en-GB" sz="3600" b="1" dirty="0"/>
              <a:t> (4/6)</a:t>
            </a:r>
            <a:endParaRPr lang="en-US" sz="3600" b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C439F8-1FA2-3326-98A4-6F3B52FBCC35}"/>
              </a:ext>
            </a:extLst>
          </p:cNvPr>
          <p:cNvSpPr txBox="1">
            <a:spLocks/>
          </p:cNvSpPr>
          <p:nvPr/>
        </p:nvSpPr>
        <p:spPr>
          <a:xfrm>
            <a:off x="819213" y="897459"/>
            <a:ext cx="11238108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err="1"/>
              <a:t>Dimensionar</a:t>
            </a:r>
            <a:r>
              <a:rPr lang="en-GB" sz="2800" b="1" dirty="0"/>
              <a:t> </a:t>
            </a:r>
            <a:r>
              <a:rPr lang="en-GB" sz="2800" b="1" dirty="0" err="1"/>
              <a:t>depois</a:t>
            </a:r>
            <a:r>
              <a:rPr lang="en-GB" sz="2800" b="1" dirty="0"/>
              <a:t> </a:t>
            </a:r>
            <a:r>
              <a:rPr lang="en-GB" sz="2800" b="1" dirty="0" err="1"/>
              <a:t>os</a:t>
            </a:r>
            <a:r>
              <a:rPr lang="en-GB" sz="2800" b="1" dirty="0"/>
              <a:t> polos auxiliaries</a:t>
            </a:r>
            <a:endParaRPr lang="en-US" sz="2800" b="1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446A440-E89B-D82F-EAFE-588CDF3CA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16" y="1591155"/>
            <a:ext cx="7462284" cy="513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463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09AA0-CEB0-1552-A007-1F918AE5B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m diagrama, texto, file, Gráfico&#10;&#10;Os conteúdos gerados por IA podem estar incorretos.">
            <a:extLst>
              <a:ext uri="{FF2B5EF4-FFF2-40B4-BE49-F238E27FC236}">
                <a16:creationId xmlns:a16="http://schemas.microsoft.com/office/drawing/2014/main" id="{FB7C65EA-65A3-B902-4650-898F07D0B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30" y="1044281"/>
            <a:ext cx="9067800" cy="5667375"/>
          </a:xfrm>
          <a:prstGeom prst="rect">
            <a:avLst/>
          </a:prstGeom>
        </p:spPr>
      </p:pic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A553A15-54EE-7E73-6B38-4482C5ED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13</a:t>
            </a:fld>
            <a:endParaRPr lang="en-U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8E636DDC-9F16-9074-0303-E7CE15128669}"/>
              </a:ext>
            </a:extLst>
          </p:cNvPr>
          <p:cNvSpPr txBox="1">
            <a:spLocks/>
          </p:cNvSpPr>
          <p:nvPr/>
        </p:nvSpPr>
        <p:spPr>
          <a:xfrm>
            <a:off x="264042" y="146344"/>
            <a:ext cx="11692776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/>
              <a:t>2 - </a:t>
            </a:r>
            <a:r>
              <a:rPr lang="en-GB" sz="3600" dirty="0" err="1"/>
              <a:t>Máquina</a:t>
            </a:r>
            <a:r>
              <a:rPr lang="en-GB" sz="3600" dirty="0"/>
              <a:t> CC com </a:t>
            </a:r>
            <a:r>
              <a:rPr lang="en-GB" sz="3600" b="1" dirty="0"/>
              <a:t>RMI </a:t>
            </a:r>
            <a:r>
              <a:rPr lang="en-GB" sz="3600" b="1" dirty="0" err="1"/>
              <a:t>compensada</a:t>
            </a:r>
            <a:r>
              <a:rPr lang="en-GB" sz="3600" b="1" dirty="0"/>
              <a:t> (5/6)</a:t>
            </a:r>
            <a:endParaRPr lang="en-US" sz="3600" b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AFAB00-B402-0593-9292-FE852F2406DE}"/>
              </a:ext>
            </a:extLst>
          </p:cNvPr>
          <p:cNvSpPr txBox="1">
            <a:spLocks/>
          </p:cNvSpPr>
          <p:nvPr/>
        </p:nvSpPr>
        <p:spPr>
          <a:xfrm>
            <a:off x="819213" y="897459"/>
            <a:ext cx="11238108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/>
              <a:t>FMM: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15207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B8B8F-7DC9-CDA7-CF78-6D16650D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4166E29-6535-B758-6D81-85798A8D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CA35-BAF5-4C3E-83E2-7A7EDABA4062}" type="slidenum">
              <a:rPr lang="en-US" smtClean="0"/>
              <a:t>14</a:t>
            </a:fld>
            <a:endParaRPr lang="en-U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DF78738-1F08-298C-6A37-EB9A876E517E}"/>
              </a:ext>
            </a:extLst>
          </p:cNvPr>
          <p:cNvSpPr txBox="1">
            <a:spLocks/>
          </p:cNvSpPr>
          <p:nvPr/>
        </p:nvSpPr>
        <p:spPr>
          <a:xfrm>
            <a:off x="264042" y="146344"/>
            <a:ext cx="11692776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/>
              <a:t>2 - </a:t>
            </a:r>
            <a:r>
              <a:rPr lang="en-GB" sz="3600" dirty="0" err="1"/>
              <a:t>Máquina</a:t>
            </a:r>
            <a:r>
              <a:rPr lang="en-GB" sz="3600" dirty="0"/>
              <a:t> CC com </a:t>
            </a:r>
            <a:r>
              <a:rPr lang="en-GB" sz="3600" b="1" dirty="0"/>
              <a:t>RMI </a:t>
            </a:r>
            <a:r>
              <a:rPr lang="en-GB" sz="3600" b="1" dirty="0" err="1"/>
              <a:t>compensada</a:t>
            </a:r>
            <a:r>
              <a:rPr lang="en-GB" sz="3600" b="1" dirty="0"/>
              <a:t> (6/6)</a:t>
            </a:r>
            <a:endParaRPr lang="en-US" sz="3600" b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775A60-D44D-7689-A080-66B904D77893}"/>
              </a:ext>
            </a:extLst>
          </p:cNvPr>
          <p:cNvSpPr txBox="1">
            <a:spLocks/>
          </p:cNvSpPr>
          <p:nvPr/>
        </p:nvSpPr>
        <p:spPr>
          <a:xfrm>
            <a:off x="819213" y="897459"/>
            <a:ext cx="11238108" cy="87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err="1"/>
              <a:t>Indução</a:t>
            </a:r>
            <a:r>
              <a:rPr lang="en-GB" sz="2800" b="1" dirty="0"/>
              <a:t> </a:t>
            </a:r>
            <a:r>
              <a:rPr lang="en-GB" sz="2800" b="1" dirty="0" err="1"/>
              <a:t>magnética</a:t>
            </a:r>
            <a:r>
              <a:rPr lang="en-GB" sz="2800" b="1" dirty="0"/>
              <a:t> </a:t>
            </a:r>
            <a:r>
              <a:rPr lang="en-GB" sz="2800" b="1" dirty="0" err="1"/>
              <a:t>resultante</a:t>
            </a:r>
            <a:r>
              <a:rPr lang="en-GB" sz="2800" b="1" dirty="0"/>
              <a:t>, </a:t>
            </a:r>
            <a:r>
              <a:rPr lang="en-GB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GB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</a:t>
            </a:r>
            <a:endParaRPr lang="en-US" sz="28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3441C409-8999-BEE3-FC42-70E912894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0" y="1677655"/>
            <a:ext cx="7336465" cy="504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299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5481</TotalTime>
  <Words>346</Words>
  <Application>Microsoft Office PowerPoint</Application>
  <PresentationFormat>Ecrã Panorâmico</PresentationFormat>
  <Paragraphs>43</Paragraphs>
  <Slides>14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French Script MT</vt:lpstr>
      <vt:lpstr>Times New Roman</vt:lpstr>
      <vt:lpstr>Tema do Office</vt:lpstr>
      <vt:lpstr>Máquina de Corrente Contínua</vt:lpstr>
      <vt:lpstr>Observações</vt:lpstr>
      <vt:lpstr>  campo indutor     +     campo induzido    =   campo resultante</vt:lpstr>
      <vt:lpstr>  campo indutor     +     campo induzido    =   campo resultante</vt:lpstr>
      <vt:lpstr>FMM do campo indutor  e campo induzido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Luis</dc:creator>
  <cp:lastModifiedBy>Ricardo Luis</cp:lastModifiedBy>
  <cp:revision>6</cp:revision>
  <dcterms:created xsi:type="dcterms:W3CDTF">2025-09-15T20:27:12Z</dcterms:created>
  <dcterms:modified xsi:type="dcterms:W3CDTF">2025-09-19T17:59:24Z</dcterms:modified>
</cp:coreProperties>
</file>